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>
        <p15:guide id="1" orient="horz" pos="288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95fbf19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b795fbf19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b795fbf19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showMasterSp="0">
  <p:cSld name="タイトル スライド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>
            <p:ph idx="2" type="pic"/>
          </p:nvPr>
        </p:nvSpPr>
        <p:spPr>
          <a:xfrm>
            <a:off x="458724" y="411480"/>
            <a:ext cx="11274552" cy="603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458724" y="3236493"/>
            <a:ext cx="5149596" cy="1448385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b" bIns="137150" lIns="50290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58724" y="4684879"/>
            <a:ext cx="5149596" cy="524794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t" bIns="45700" lIns="50290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400"/>
              <a:buNone/>
              <a:defRPr sz="14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概要" showMasterSp="0">
  <p:cSld name="概要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6312583" y="2102720"/>
            <a:ext cx="542221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>
            <p:ph idx="2" type="pic"/>
          </p:nvPr>
        </p:nvSpPr>
        <p:spPr>
          <a:xfrm>
            <a:off x="457200" y="1143000"/>
            <a:ext cx="5486400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309360" y="3500407"/>
            <a:ext cx="4572000" cy="1888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71428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Arial"/>
              <a:buNone/>
              <a:defRPr sz="14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Arial"/>
              <a:buNone/>
              <a:defRPr sz="1400">
                <a:solidFill>
                  <a:srgbClr val="757070"/>
                </a:solidFill>
              </a:defRPr>
            </a:lvl2pPr>
            <a:lvl3pPr indent="-228600" lvl="2" marL="1371600" algn="l">
              <a:lnSpc>
                <a:spcPct val="171428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Arial"/>
              <a:buNone/>
              <a:defRPr sz="1400">
                <a:solidFill>
                  <a:srgbClr val="757070"/>
                </a:solidFill>
              </a:defRPr>
            </a:lvl3pPr>
            <a:lvl4pPr indent="-228600" lvl="3" marL="1828800" algn="l">
              <a:lnSpc>
                <a:spcPct val="171428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Arial"/>
              <a:buNone/>
              <a:defRPr sz="1400">
                <a:solidFill>
                  <a:srgbClr val="757070"/>
                </a:solidFill>
              </a:defRPr>
            </a:lvl4pPr>
            <a:lvl5pPr indent="-228600" lvl="4" marL="2286000" algn="l">
              <a:lnSpc>
                <a:spcPct val="171428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Arial"/>
              <a:buNone/>
              <a:defRPr sz="1400">
                <a:solidFill>
                  <a:srgbClr val="75707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議題" showMasterSp="0">
  <p:cSld name="議題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6286500" y="946404"/>
            <a:ext cx="5486400" cy="4965192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457199" y="2103120"/>
            <a:ext cx="38481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/>
          <p:nvPr>
            <p:ph idx="2" type="pic"/>
          </p:nvPr>
        </p:nvSpPr>
        <p:spPr>
          <a:xfrm>
            <a:off x="4697421" y="1600200"/>
            <a:ext cx="2743199" cy="36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2614" y="1893262"/>
            <a:ext cx="2743200" cy="3071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>
                <a:solidFill>
                  <a:srgbClr val="3F3F3F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5" name="Google Shape;35;p4"/>
          <p:cNvSpPr/>
          <p:nvPr/>
        </p:nvSpPr>
        <p:spPr>
          <a:xfrm flipH="1" rot="-8052435">
            <a:off x="624728" y="3747150"/>
            <a:ext cx="1044472" cy="908544"/>
          </a:xfrm>
          <a:custGeom>
            <a:rect b="b" l="l" r="r" t="t"/>
            <a:pathLst>
              <a:path extrusionOk="0" h="3357396" w="3859699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rgbClr val="A3D3D1">
              <a:alpha val="819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用文" showMasterSp="0">
  <p:cSld name="引用文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>
            <p:ph idx="2" type="pic"/>
          </p:nvPr>
        </p:nvSpPr>
        <p:spPr>
          <a:xfrm>
            <a:off x="6232491" y="946404"/>
            <a:ext cx="5486400" cy="4965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73109" y="2386584"/>
            <a:ext cx="4315968" cy="2084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3400"/>
              <a:buFont typeface="Arial"/>
              <a:buNone/>
              <a:defRPr sz="3400">
                <a:solidFill>
                  <a:srgbClr val="AEABA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457200" y="4471416"/>
            <a:ext cx="3584448" cy="637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600"/>
              <a:buFont typeface="Arial"/>
              <a:buNone/>
              <a:defRPr sz="16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/>
          <p:nvPr>
            <p:ph idx="3" type="pic"/>
          </p:nvPr>
        </p:nvSpPr>
        <p:spPr>
          <a:xfrm>
            <a:off x="5093208" y="1600200"/>
            <a:ext cx="2286000" cy="36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50" name="Google Shape;50;p6"/>
          <p:cNvSpPr/>
          <p:nvPr/>
        </p:nvSpPr>
        <p:spPr>
          <a:xfrm flipH="1" rot="-8052435">
            <a:off x="1727251" y="1145928"/>
            <a:ext cx="1044472" cy="908544"/>
          </a:xfrm>
          <a:custGeom>
            <a:rect b="b" l="l" r="r" t="t"/>
            <a:pathLst>
              <a:path extrusionOk="0" h="3357396" w="3859699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rgbClr val="A3D3D1">
              <a:alpha val="819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チーム オプション 1">
  <p:cSld name="チーム オプション 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/>
          <p:nvPr>
            <p:ph idx="2" type="pic"/>
          </p:nvPr>
        </p:nvSpPr>
        <p:spPr>
          <a:xfrm>
            <a:off x="457200" y="1806318"/>
            <a:ext cx="2286000" cy="320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Google Shape;54;p7"/>
          <p:cNvSpPr/>
          <p:nvPr>
            <p:ph idx="3" type="pic"/>
          </p:nvPr>
        </p:nvSpPr>
        <p:spPr>
          <a:xfrm>
            <a:off x="3429000" y="1806318"/>
            <a:ext cx="2286000" cy="320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5" name="Google Shape;55;p7"/>
          <p:cNvSpPr/>
          <p:nvPr>
            <p:ph idx="4" type="pic"/>
          </p:nvPr>
        </p:nvSpPr>
        <p:spPr>
          <a:xfrm>
            <a:off x="6477000" y="1806318"/>
            <a:ext cx="2286000" cy="320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Google Shape;56;p7"/>
          <p:cNvSpPr/>
          <p:nvPr>
            <p:ph idx="5" type="pic"/>
          </p:nvPr>
        </p:nvSpPr>
        <p:spPr>
          <a:xfrm>
            <a:off x="9452808" y="1806318"/>
            <a:ext cx="2286000" cy="320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379376" y="5202936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6" type="body"/>
          </p:nvPr>
        </p:nvSpPr>
        <p:spPr>
          <a:xfrm>
            <a:off x="379376" y="5568696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Arial"/>
              <a:buNone/>
              <a:defRPr sz="12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7" type="body"/>
          </p:nvPr>
        </p:nvSpPr>
        <p:spPr>
          <a:xfrm>
            <a:off x="3351175" y="5202936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8" type="body"/>
          </p:nvPr>
        </p:nvSpPr>
        <p:spPr>
          <a:xfrm>
            <a:off x="3351174" y="5568696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Arial"/>
              <a:buNone/>
              <a:defRPr sz="12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9" type="body"/>
          </p:nvPr>
        </p:nvSpPr>
        <p:spPr>
          <a:xfrm>
            <a:off x="6399176" y="5202936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3" type="body"/>
          </p:nvPr>
        </p:nvSpPr>
        <p:spPr>
          <a:xfrm>
            <a:off x="6399175" y="5568696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Arial"/>
              <a:buNone/>
              <a:defRPr sz="12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4" type="body"/>
          </p:nvPr>
        </p:nvSpPr>
        <p:spPr>
          <a:xfrm>
            <a:off x="9374985" y="5202936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5" type="body"/>
          </p:nvPr>
        </p:nvSpPr>
        <p:spPr>
          <a:xfrm>
            <a:off x="9374984" y="5568696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Arial"/>
              <a:buNone/>
              <a:defRPr sz="12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チーム オプション 2">
  <p:cSld name="チーム オプション 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/>
          <p:nvPr>
            <p:ph idx="2" type="pic"/>
          </p:nvPr>
        </p:nvSpPr>
        <p:spPr>
          <a:xfrm>
            <a:off x="477256" y="1722086"/>
            <a:ext cx="2286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1" name="Google Shape;71;p8"/>
          <p:cNvSpPr/>
          <p:nvPr>
            <p:ph idx="3" type="pic"/>
          </p:nvPr>
        </p:nvSpPr>
        <p:spPr>
          <a:xfrm>
            <a:off x="3429000" y="1722086"/>
            <a:ext cx="2286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2" name="Google Shape;72;p8"/>
          <p:cNvSpPr/>
          <p:nvPr>
            <p:ph idx="4" type="pic"/>
          </p:nvPr>
        </p:nvSpPr>
        <p:spPr>
          <a:xfrm>
            <a:off x="6477000" y="1722086"/>
            <a:ext cx="2286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3" name="Google Shape;73;p8"/>
          <p:cNvSpPr/>
          <p:nvPr>
            <p:ph idx="5" type="pic"/>
          </p:nvPr>
        </p:nvSpPr>
        <p:spPr>
          <a:xfrm>
            <a:off x="9440776" y="1722086"/>
            <a:ext cx="2286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4" name="Google Shape;74;p8"/>
          <p:cNvSpPr txBox="1"/>
          <p:nvPr>
            <p:ph idx="1" type="body"/>
          </p:nvPr>
        </p:nvSpPr>
        <p:spPr>
          <a:xfrm>
            <a:off x="379977" y="3213251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6" type="body"/>
          </p:nvPr>
        </p:nvSpPr>
        <p:spPr>
          <a:xfrm>
            <a:off x="379976" y="3518946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000"/>
              <a:buFont typeface="Arial"/>
              <a:buNone/>
              <a:defRPr sz="10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8"/>
          <p:cNvSpPr txBox="1"/>
          <p:nvPr>
            <p:ph idx="7" type="body"/>
          </p:nvPr>
        </p:nvSpPr>
        <p:spPr>
          <a:xfrm>
            <a:off x="3331719" y="3213251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8" type="body"/>
          </p:nvPr>
        </p:nvSpPr>
        <p:spPr>
          <a:xfrm>
            <a:off x="3331718" y="3518946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000"/>
              <a:buFont typeface="Arial"/>
              <a:buNone/>
              <a:defRPr sz="10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9" type="body"/>
          </p:nvPr>
        </p:nvSpPr>
        <p:spPr>
          <a:xfrm>
            <a:off x="6379720" y="3213251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3" type="body"/>
          </p:nvPr>
        </p:nvSpPr>
        <p:spPr>
          <a:xfrm>
            <a:off x="6379719" y="3518946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000"/>
              <a:buFont typeface="Arial"/>
              <a:buNone/>
              <a:defRPr sz="10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4" type="body"/>
          </p:nvPr>
        </p:nvSpPr>
        <p:spPr>
          <a:xfrm>
            <a:off x="9343497" y="3213251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5" type="body"/>
          </p:nvPr>
        </p:nvSpPr>
        <p:spPr>
          <a:xfrm>
            <a:off x="9343496" y="3518946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000"/>
              <a:buFont typeface="Arial"/>
              <a:buNone/>
              <a:defRPr sz="10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8"/>
          <p:cNvSpPr/>
          <p:nvPr>
            <p:ph idx="16" type="pic"/>
          </p:nvPr>
        </p:nvSpPr>
        <p:spPr>
          <a:xfrm>
            <a:off x="497304" y="4076273"/>
            <a:ext cx="2286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8"/>
          <p:cNvSpPr/>
          <p:nvPr>
            <p:ph idx="17" type="pic"/>
          </p:nvPr>
        </p:nvSpPr>
        <p:spPr>
          <a:xfrm>
            <a:off x="3449048" y="4076273"/>
            <a:ext cx="2286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4" name="Google Shape;84;p8"/>
          <p:cNvSpPr/>
          <p:nvPr>
            <p:ph idx="18" type="pic"/>
          </p:nvPr>
        </p:nvSpPr>
        <p:spPr>
          <a:xfrm>
            <a:off x="6497048" y="4076273"/>
            <a:ext cx="2286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5" name="Google Shape;85;p8"/>
          <p:cNvSpPr/>
          <p:nvPr>
            <p:ph idx="19" type="pic"/>
          </p:nvPr>
        </p:nvSpPr>
        <p:spPr>
          <a:xfrm>
            <a:off x="9460824" y="4076273"/>
            <a:ext cx="2286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6" name="Google Shape;86;p8"/>
          <p:cNvSpPr txBox="1"/>
          <p:nvPr>
            <p:ph idx="20" type="body"/>
          </p:nvPr>
        </p:nvSpPr>
        <p:spPr>
          <a:xfrm>
            <a:off x="400025" y="5567438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21" type="body"/>
          </p:nvPr>
        </p:nvSpPr>
        <p:spPr>
          <a:xfrm>
            <a:off x="400024" y="5873133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000"/>
              <a:buFont typeface="Arial"/>
              <a:buNone/>
              <a:defRPr sz="10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22" type="body"/>
          </p:nvPr>
        </p:nvSpPr>
        <p:spPr>
          <a:xfrm>
            <a:off x="3351767" y="5567438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8"/>
          <p:cNvSpPr txBox="1"/>
          <p:nvPr>
            <p:ph idx="23" type="body"/>
          </p:nvPr>
        </p:nvSpPr>
        <p:spPr>
          <a:xfrm>
            <a:off x="3351766" y="5873133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000"/>
              <a:buFont typeface="Arial"/>
              <a:buNone/>
              <a:defRPr sz="10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24" type="body"/>
          </p:nvPr>
        </p:nvSpPr>
        <p:spPr>
          <a:xfrm>
            <a:off x="6399768" y="5567438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25" type="body"/>
          </p:nvPr>
        </p:nvSpPr>
        <p:spPr>
          <a:xfrm>
            <a:off x="6399767" y="5873133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000"/>
              <a:buFont typeface="Arial"/>
              <a:buNone/>
              <a:defRPr sz="10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26" type="body"/>
          </p:nvPr>
        </p:nvSpPr>
        <p:spPr>
          <a:xfrm>
            <a:off x="9363545" y="5567438"/>
            <a:ext cx="2286000" cy="2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27" type="body"/>
          </p:nvPr>
        </p:nvSpPr>
        <p:spPr>
          <a:xfrm>
            <a:off x="9363544" y="5873133"/>
            <a:ext cx="2286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000"/>
              <a:buFont typeface="Arial"/>
              <a:buNone/>
              <a:defRPr sz="10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>
  <p:cSld name="タイトルのみ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  <a:defRPr sz="3600">
                <a:solidFill>
                  <a:srgbClr val="7F7F7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ムライン">
  <p:cSld name="タイムライン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457200" y="1825625"/>
            <a:ext cx="11430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070"/>
              </a:buClr>
              <a:buSzPts val="1400"/>
              <a:buChar char="•"/>
              <a:defRPr>
                <a:solidFill>
                  <a:srgbClr val="75707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>
  <p:cSld name="比較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>
            <a:off x="6086475" y="1682496"/>
            <a:ext cx="563880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457200" y="1681163"/>
            <a:ext cx="5638800" cy="4572000"/>
          </a:xfrm>
          <a:prstGeom prst="rect">
            <a:avLst/>
          </a:prstGeom>
          <a:solidFill>
            <a:schemeClr val="accent2">
              <a:alpha val="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>
            <a:off x="1289640" y="1844259"/>
            <a:ext cx="3657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11"/>
          <p:cNvSpPr txBox="1"/>
          <p:nvPr>
            <p:ph idx="2" type="body"/>
          </p:nvPr>
        </p:nvSpPr>
        <p:spPr>
          <a:xfrm>
            <a:off x="1289640" y="2668171"/>
            <a:ext cx="365760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3" type="body"/>
          </p:nvPr>
        </p:nvSpPr>
        <p:spPr>
          <a:xfrm>
            <a:off x="6780133" y="1808163"/>
            <a:ext cx="4703841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11"/>
          <p:cNvSpPr txBox="1"/>
          <p:nvPr>
            <p:ph idx="4" type="body"/>
          </p:nvPr>
        </p:nvSpPr>
        <p:spPr>
          <a:xfrm>
            <a:off x="6780134" y="2632075"/>
            <a:ext cx="365760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対象の 3 列">
  <p:cSld name="比較対象の 3 列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7958712" y="1681163"/>
            <a:ext cx="3749040" cy="4572000"/>
          </a:xfrm>
          <a:prstGeom prst="rect">
            <a:avLst/>
          </a:prstGeom>
          <a:solidFill>
            <a:schemeClr val="accent2">
              <a:alpha val="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4211097" y="1682496"/>
            <a:ext cx="374904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63176" y="1681163"/>
            <a:ext cx="3749040" cy="4572000"/>
          </a:xfrm>
          <a:prstGeom prst="rect">
            <a:avLst/>
          </a:prstGeom>
          <a:solidFill>
            <a:schemeClr val="accent2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2"/>
          <p:cNvSpPr txBox="1"/>
          <p:nvPr>
            <p:ph idx="1" type="body"/>
          </p:nvPr>
        </p:nvSpPr>
        <p:spPr>
          <a:xfrm>
            <a:off x="839788" y="1966913"/>
            <a:ext cx="2971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12"/>
          <p:cNvSpPr txBox="1"/>
          <p:nvPr>
            <p:ph idx="2" type="body"/>
          </p:nvPr>
        </p:nvSpPr>
        <p:spPr>
          <a:xfrm>
            <a:off x="839788" y="2790825"/>
            <a:ext cx="2971800" cy="324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42857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3" type="body"/>
          </p:nvPr>
        </p:nvSpPr>
        <p:spPr>
          <a:xfrm>
            <a:off x="4610188" y="1966913"/>
            <a:ext cx="2971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12"/>
          <p:cNvSpPr txBox="1"/>
          <p:nvPr>
            <p:ph idx="4" type="body"/>
          </p:nvPr>
        </p:nvSpPr>
        <p:spPr>
          <a:xfrm>
            <a:off x="4610188" y="2790825"/>
            <a:ext cx="297180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42857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2"/>
          <p:cNvSpPr txBox="1"/>
          <p:nvPr>
            <p:ph idx="5" type="body"/>
          </p:nvPr>
        </p:nvSpPr>
        <p:spPr>
          <a:xfrm>
            <a:off x="8430134" y="1976438"/>
            <a:ext cx="2971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2"/>
          <p:cNvSpPr txBox="1"/>
          <p:nvPr>
            <p:ph idx="6" type="body"/>
          </p:nvPr>
        </p:nvSpPr>
        <p:spPr>
          <a:xfrm>
            <a:off x="8430134" y="2800350"/>
            <a:ext cx="297180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42857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2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概要" showMasterSp="0">
  <p:cSld name="概要 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/>
          <p:nvPr>
            <p:ph idx="2" type="pic"/>
          </p:nvPr>
        </p:nvSpPr>
        <p:spPr>
          <a:xfrm>
            <a:off x="8622628" y="685800"/>
            <a:ext cx="3200400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5" name="Google Shape;135;p13"/>
          <p:cNvSpPr/>
          <p:nvPr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457200" y="850230"/>
            <a:ext cx="500914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" type="body"/>
          </p:nvPr>
        </p:nvSpPr>
        <p:spPr>
          <a:xfrm>
            <a:off x="457200" y="2490788"/>
            <a:ext cx="4572000" cy="353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71428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71428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71428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71428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71428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3" type="pic"/>
          </p:nvPr>
        </p:nvSpPr>
        <p:spPr>
          <a:xfrm>
            <a:off x="6781800" y="2492375"/>
            <a:ext cx="2286000" cy="251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9" name="Google Shape;139;p13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42" name="Google Shape;142;p13"/>
          <p:cNvSpPr/>
          <p:nvPr/>
        </p:nvSpPr>
        <p:spPr>
          <a:xfrm flipH="1" rot="-8052435">
            <a:off x="761136" y="5210984"/>
            <a:ext cx="1044472" cy="908544"/>
          </a:xfrm>
          <a:custGeom>
            <a:rect b="b" l="l" r="r" t="t"/>
            <a:pathLst>
              <a:path extrusionOk="0" h="3357396" w="3859699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rgbClr val="A3D3D1">
              <a:alpha val="819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結び" showMasterSp="0">
  <p:cSld name="結び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/>
          <p:nvPr>
            <p:ph idx="2" type="pic"/>
          </p:nvPr>
        </p:nvSpPr>
        <p:spPr>
          <a:xfrm>
            <a:off x="458724" y="411480"/>
            <a:ext cx="11274552" cy="58704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5" name="Google Shape;145;p14"/>
          <p:cNvSpPr txBox="1"/>
          <p:nvPr>
            <p:ph type="ctrTitle"/>
          </p:nvPr>
        </p:nvSpPr>
        <p:spPr>
          <a:xfrm>
            <a:off x="457201" y="3490624"/>
            <a:ext cx="4571999" cy="1235382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b" bIns="137150" lIns="45720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600"/>
              <a:buFont typeface="Arial"/>
              <a:buNone/>
              <a:defRPr sz="3600">
                <a:solidFill>
                  <a:srgbClr val="3A383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" type="subTitle"/>
          </p:nvPr>
        </p:nvSpPr>
        <p:spPr>
          <a:xfrm>
            <a:off x="457199" y="4726007"/>
            <a:ext cx="4571999" cy="1314432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t" bIns="45700" lIns="502900" spcFirstLastPara="1" rIns="21031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400"/>
              <a:buNone/>
              <a:defRPr sz="1400">
                <a:solidFill>
                  <a:srgbClr val="3A3838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7" name="Google Shape;147;p14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">
  <p:cSld name="セクション ヘッダー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/>
          <p:nvPr>
            <p:ph idx="2" type="pic"/>
          </p:nvPr>
        </p:nvSpPr>
        <p:spPr>
          <a:xfrm>
            <a:off x="1524" y="-2"/>
            <a:ext cx="12188952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2" name="Google Shape;152;p15"/>
          <p:cNvSpPr txBox="1"/>
          <p:nvPr>
            <p:ph type="ctrTitle"/>
          </p:nvPr>
        </p:nvSpPr>
        <p:spPr>
          <a:xfrm>
            <a:off x="1524000" y="4667250"/>
            <a:ext cx="9144000" cy="12121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  <a:defRPr sz="3600">
                <a:solidFill>
                  <a:srgbClr val="7570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1" type="subTitle"/>
          </p:nvPr>
        </p:nvSpPr>
        <p:spPr>
          <a:xfrm>
            <a:off x="1524000" y="5971507"/>
            <a:ext cx="9144000" cy="524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400"/>
              <a:buNone/>
              <a:defRPr sz="14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0820400" y="813816"/>
            <a:ext cx="1371600" cy="4572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825625"/>
            <a:ext cx="11277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392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W6SLzRoqX0k8u_xjtt38Fhtymvs0R0-3/view?usp=shar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/>
          <p:nvPr/>
        </p:nvSpPr>
        <p:spPr>
          <a:xfrm>
            <a:off x="-1339" y="-3006"/>
            <a:ext cx="12196916" cy="687520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霜の降りた松葉のクローズアップ&#10;" id="160" name="Google Shape;160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724" y="411480"/>
            <a:ext cx="11274552" cy="603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161" name="Google Shape;161;p16"/>
          <p:cNvSpPr txBox="1"/>
          <p:nvPr>
            <p:ph type="ctrTitle"/>
          </p:nvPr>
        </p:nvSpPr>
        <p:spPr>
          <a:xfrm>
            <a:off x="458724" y="3236493"/>
            <a:ext cx="5149596" cy="1448385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b" bIns="137150" lIns="502900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None/>
            </a:pPr>
            <a:r>
              <a:rPr b="0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微算機系統實習小組報告</a:t>
            </a:r>
            <a:endParaRPr b="1" i="0" sz="36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None/>
            </a:pPr>
            <a:r>
              <a:rPr b="0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FinalProject</a:t>
            </a:r>
            <a:endParaRPr b="1" i="0" sz="36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 txBox="1"/>
          <p:nvPr>
            <p:ph idx="1" type="subTitle"/>
          </p:nvPr>
        </p:nvSpPr>
        <p:spPr>
          <a:xfrm>
            <a:off x="458724" y="4684879"/>
            <a:ext cx="5149500" cy="524700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t" bIns="45700" lIns="50290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Arial"/>
              <a:buNone/>
            </a:pPr>
            <a:r>
              <a:rPr lang="ja-JP"/>
              <a:t>第14組 tata </a:t>
            </a:r>
            <a:r>
              <a:rPr lang="ja-JP"/>
              <a:t>TJ</a:t>
            </a:r>
            <a:r>
              <a:rPr lang="ja-JP"/>
              <a:t> 皮卡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/>
          <p:nvPr/>
        </p:nvSpPr>
        <p:spPr>
          <a:xfrm>
            <a:off x="-2389" y="-57106"/>
            <a:ext cx="12196800" cy="68751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>
            <p:ph type="title"/>
          </p:nvPr>
        </p:nvSpPr>
        <p:spPr>
          <a:xfrm>
            <a:off x="6198574" y="2390287"/>
            <a:ext cx="5790900" cy="149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</a:pPr>
            <a:r>
              <a:rPr b="1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目標</a:t>
            </a:r>
            <a:br>
              <a:rPr b="1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lang="ja-JP"/>
              <a:t>工廠機器自動檢測燈號</a:t>
            </a:r>
            <a:endParaRPr b="1" i="0" sz="36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樹木とフェンスがある雪景色&#10;" id="170" name="Google Shape;170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3000"/>
            <a:ext cx="5486400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171" name="Google Shape;1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376740" y="1933074"/>
            <a:ext cx="1371600" cy="4572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/>
          <p:nvPr/>
        </p:nvSpPr>
        <p:spPr>
          <a:xfrm>
            <a:off x="-1339" y="-3006"/>
            <a:ext cx="12196800" cy="68751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 txBox="1"/>
          <p:nvPr>
            <p:ph type="title"/>
          </p:nvPr>
        </p:nvSpPr>
        <p:spPr>
          <a:xfrm>
            <a:off x="461203" y="553022"/>
            <a:ext cx="41148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3400"/>
              <a:buFont typeface="Arial"/>
              <a:buNone/>
            </a:pPr>
            <a:r>
              <a:rPr lang="ja-JP" sz="3600">
                <a:solidFill>
                  <a:srgbClr val="757070"/>
                </a:solidFill>
              </a:rPr>
              <a:t>背景故事：</a:t>
            </a:r>
            <a:endParaRPr b="1" i="0" sz="3400" u="none" cap="none" strike="noStrike">
              <a:solidFill>
                <a:srgbClr val="AEAB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457200" y="1825625"/>
            <a:ext cx="11277600" cy="435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ja-JP" sz="3000">
                <a:solidFill>
                  <a:srgbClr val="757070"/>
                </a:solidFill>
              </a:rPr>
              <a:t>我們是設計一個「操作機器執行」的系統設計工程師，需要解決的需求有：</a:t>
            </a:r>
            <a:endParaRPr sz="3000">
              <a:solidFill>
                <a:srgbClr val="757070"/>
              </a:solidFill>
            </a:endParaRPr>
          </a:p>
          <a:p>
            <a: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3000"/>
              <a:buChar char="●"/>
            </a:pPr>
            <a:r>
              <a:rPr lang="ja-JP" sz="3000">
                <a:solidFill>
                  <a:srgbClr val="757070"/>
                </a:solidFill>
              </a:rPr>
              <a:t>執行機器</a:t>
            </a:r>
            <a:endParaRPr sz="3000">
              <a:solidFill>
                <a:srgbClr val="757070"/>
              </a:solidFill>
            </a:endParaRPr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000"/>
              <a:buChar char="●"/>
            </a:pPr>
            <a:r>
              <a:rPr lang="ja-JP" sz="3000">
                <a:solidFill>
                  <a:srgbClr val="757070"/>
                </a:solidFill>
              </a:rPr>
              <a:t>運用燈號顯示目前進度(LED閃爍)：</a:t>
            </a:r>
            <a:endParaRPr sz="3000">
              <a:solidFill>
                <a:srgbClr val="757070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ja-JP" sz="2500">
                <a:solidFill>
                  <a:srgbClr val="757070"/>
                </a:solidFill>
              </a:rPr>
              <a:t>待機時LED維恆亮，執行時使用mutex上鎖被執行的項目，且LED會點亮</a:t>
            </a:r>
            <a:endParaRPr sz="2500">
              <a:solidFill>
                <a:srgbClr val="757070"/>
              </a:solidFill>
            </a:endParaRPr>
          </a:p>
          <a:p>
            <a: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3000"/>
              <a:buChar char="●"/>
            </a:pPr>
            <a:r>
              <a:rPr lang="ja-JP" sz="3000">
                <a:solidFill>
                  <a:srgbClr val="757070"/>
                </a:solidFill>
              </a:rPr>
              <a:t>自動檢測周遭是否安全(ADC光敏感測)</a:t>
            </a:r>
            <a:endParaRPr sz="3000">
              <a:solidFill>
                <a:srgbClr val="757070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ja-JP" sz="2500">
                <a:solidFill>
                  <a:srgbClr val="757070"/>
                </a:solidFill>
              </a:rPr>
              <a:t>模擬</a:t>
            </a:r>
            <a:r>
              <a:rPr lang="ja-JP" sz="2500">
                <a:solidFill>
                  <a:srgbClr val="757070"/>
                </a:solidFill>
              </a:rPr>
              <a:t>有</a:t>
            </a:r>
            <a:r>
              <a:rPr lang="ja-JP" sz="2500">
                <a:solidFill>
                  <a:srgbClr val="757070"/>
                </a:solidFill>
              </a:rPr>
              <a:t>人太靠近機器會觸發警報，LED會全部閃爍，並中斷執行機器且上鎖</a:t>
            </a:r>
            <a:endParaRPr sz="2500">
              <a:solidFill>
                <a:srgbClr val="757070"/>
              </a:solidFill>
            </a:endParaRPr>
          </a:p>
          <a:p>
            <a: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3000"/>
              <a:buChar char="●"/>
            </a:pPr>
            <a:r>
              <a:rPr lang="ja-JP" sz="3000">
                <a:solidFill>
                  <a:srgbClr val="757070"/>
                </a:solidFill>
              </a:rPr>
              <a:t>能手動執行想執行的項目</a:t>
            </a:r>
            <a:endParaRPr sz="3000">
              <a:solidFill>
                <a:srgbClr val="75707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/>
          <p:nvPr/>
        </p:nvSpPr>
        <p:spPr>
          <a:xfrm>
            <a:off x="-1339" y="-3006"/>
            <a:ext cx="12196916" cy="687520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 txBox="1"/>
          <p:nvPr>
            <p:ph type="title"/>
          </p:nvPr>
        </p:nvSpPr>
        <p:spPr>
          <a:xfrm>
            <a:off x="457199" y="2103120"/>
            <a:ext cx="38481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</a:pPr>
            <a:r>
              <a:rPr lang="ja-JP"/>
              <a:t>目標</a:t>
            </a:r>
            <a:r>
              <a:rPr b="1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項目</a:t>
            </a:r>
            <a:r>
              <a:rPr lang="ja-JP"/>
              <a:t>：</a:t>
            </a:r>
            <a:endParaRPr b="1" i="0" sz="36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雪に覆われた樹木と青空の雪原" id="189" name="Google Shape;189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0525" y="1600200"/>
            <a:ext cx="2743199" cy="36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190" name="Google Shape;190;p19"/>
          <p:cNvSpPr txBox="1"/>
          <p:nvPr>
            <p:ph idx="1" type="body"/>
          </p:nvPr>
        </p:nvSpPr>
        <p:spPr>
          <a:xfrm>
            <a:off x="7051375" y="1604225"/>
            <a:ext cx="4757400" cy="36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b="0" i="0" lang="ja-JP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1.GUI</a:t>
            </a:r>
            <a:r>
              <a:rPr lang="ja-JP" sz="2400"/>
              <a:t>介面 ✔</a:t>
            </a:r>
            <a:endParaRPr sz="2400"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ja-JP" sz="2400"/>
              <a:t>2.GPIO操作LED ✔</a:t>
            </a:r>
            <a:endParaRPr sz="2400"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ja-JP" sz="2400"/>
              <a:t>3.光敏電阻偵測(MCP3008) ✔</a:t>
            </a:r>
            <a:endParaRPr sz="2400"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ja-JP" sz="2400"/>
              <a:t>4.AI視覺(進階) ✖</a:t>
            </a:r>
            <a:endParaRPr sz="2400"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ja-JP" sz="2400"/>
              <a:t>5.Kernel Black Box(進階)✖</a:t>
            </a:r>
            <a:endParaRPr sz="2400"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ja-JP" sz="2400"/>
              <a:t>6.遠端協同(進階) ✖</a:t>
            </a:r>
            <a:endParaRPr sz="2400"/>
          </a:p>
        </p:txBody>
      </p:sp>
      <p:sp>
        <p:nvSpPr>
          <p:cNvPr id="191" name="Google Shape;19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/>
          <p:nvPr/>
        </p:nvSpPr>
        <p:spPr>
          <a:xfrm>
            <a:off x="-48689" y="-8606"/>
            <a:ext cx="12196800" cy="68751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</a:pPr>
            <a:r>
              <a:rPr lang="ja-JP"/>
              <a:t>項目一.</a:t>
            </a:r>
            <a:r>
              <a:rPr b="1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GUI介面</a:t>
            </a:r>
            <a:endParaRPr/>
          </a:p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457200" y="1589375"/>
            <a:ext cx="10519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1425" spcFirstLastPara="1" rIns="91425" wrap="square" tIns="45700">
            <a:sp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000"/>
              <a:buChar char="•"/>
            </a:pPr>
            <a:r>
              <a:rPr lang="ja-JP" sz="3000"/>
              <a:t>方案構思 </a:t>
            </a:r>
            <a:r>
              <a:rPr lang="ja-JP" sz="3000"/>
              <a:t>:</a:t>
            </a:r>
            <a:r>
              <a:rPr lang="ja-JP" sz="3000"/>
              <a:t> </a:t>
            </a:r>
            <a:r>
              <a:rPr lang="ja-JP" sz="3000"/>
              <a:t>實作GUI介面，在使用時可以直覺的操作</a:t>
            </a:r>
            <a:endParaRPr sz="3000"/>
          </a:p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ja-JP" sz="3000"/>
              <a:t>顯示是否有機器</a:t>
            </a:r>
            <a:r>
              <a:rPr lang="ja-JP" sz="3000"/>
              <a:t>mutex鎖定</a:t>
            </a:r>
            <a:r>
              <a:rPr lang="ja-JP" sz="3000"/>
              <a:t>執行狀況、感測器數值及狀態</a:t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ja-JP" sz="3000"/>
              <a:t>解決方法 : </a:t>
            </a:r>
            <a:endParaRPr sz="3000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000"/>
              <a:t>功能快捷鍵 : </a:t>
            </a:r>
            <a:endParaRPr sz="3000"/>
          </a:p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/>
              <a:t>H 指令集	A 解除警報	B 待機		S 暫停</a:t>
            </a:r>
            <a:endParaRPr sz="2400"/>
          </a:p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/>
              <a:t>1 機器執行1(亮LED1)		2 機器執行2(亮LED2)</a:t>
            </a:r>
            <a:endParaRPr sz="2400"/>
          </a:p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/>
              <a:t>3 機器執行3</a:t>
            </a:r>
            <a:r>
              <a:rPr lang="ja-JP" sz="2400"/>
              <a:t>(亮LED3)		</a:t>
            </a:r>
            <a:r>
              <a:rPr lang="ja-JP" sz="2400"/>
              <a:t>4 機器執行4(亮LED4)</a:t>
            </a:r>
            <a:endParaRPr sz="2400"/>
          </a:p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/>
              <a:t>每個執行項目都會上鎖並等到執行完畢時解鎖</a:t>
            </a:r>
            <a:endParaRPr sz="2400"/>
          </a:p>
          <a:p>
            <a:pPr indent="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000"/>
              <a:t>輸出介面 : </a:t>
            </a:r>
            <a:endParaRPr sz="3000"/>
          </a:p>
          <a:p>
            <a:pPr indent="0" lvl="0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/>
              <a:t>當在執行時，感光電阻會輸出ADC值，若ADC值過高(有人太靠近機器)，機器會上鎖發出警報，需手動解除警報狀態</a:t>
            </a:r>
            <a:endParaRPr sz="2800"/>
          </a:p>
          <a:p>
            <a:pPr indent="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/>
          <p:nvPr/>
        </p:nvSpPr>
        <p:spPr>
          <a:xfrm>
            <a:off x="-1339" y="-3006"/>
            <a:ext cx="12196916" cy="687520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757070"/>
              </a:solidFill>
            </a:endParaRPr>
          </a:p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457203" y="733647"/>
            <a:ext cx="41148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3400"/>
              <a:buFont typeface="Arial"/>
              <a:buNone/>
            </a:pPr>
            <a:r>
              <a:rPr lang="ja-JP" sz="3600">
                <a:solidFill>
                  <a:srgbClr val="757070"/>
                </a:solidFill>
              </a:rPr>
              <a:t>項目二.GPIO操作</a:t>
            </a:r>
            <a:endParaRPr sz="3600">
              <a:solidFill>
                <a:srgbClr val="757070"/>
              </a:solidFill>
            </a:endParaRPr>
          </a:p>
        </p:txBody>
      </p:sp>
      <p:sp>
        <p:nvSpPr>
          <p:cNvPr id="208" name="Google Shape;20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47700" y="1832375"/>
            <a:ext cx="11277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Char char="•"/>
            </a:pPr>
            <a:r>
              <a:rPr lang="ja-JP" sz="3000">
                <a:solidFill>
                  <a:srgbClr val="767171"/>
                </a:solidFill>
              </a:rPr>
              <a:t>方案構思 : 透過GPIO操作LED，呈現實驗結果</a:t>
            </a:r>
            <a:endParaRPr sz="3000">
              <a:solidFill>
                <a:srgbClr val="767171"/>
              </a:solidFill>
            </a:endParaRPr>
          </a:p>
          <a:p>
            <a:pPr indent="-2413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ial"/>
              <a:buChar char="•"/>
            </a:pPr>
            <a:r>
              <a:rPr lang="ja-JP" sz="3000">
                <a:solidFill>
                  <a:srgbClr val="767171"/>
                </a:solidFill>
              </a:rPr>
              <a:t>改變各個LED恆亮、閃爍的狀態，通知執行者現在的狀況</a:t>
            </a:r>
            <a:endParaRPr b="0" i="0" sz="3000" u="none" cap="none" strike="noStrike">
              <a:solidFill>
                <a:srgbClr val="7671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67171"/>
              </a:solidFill>
            </a:endParaRPr>
          </a:p>
          <a:p>
            <a:pPr indent="-2413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ial"/>
              <a:buChar char="•"/>
            </a:pPr>
            <a:r>
              <a:rPr lang="ja-JP" sz="3000">
                <a:solidFill>
                  <a:srgbClr val="767171"/>
                </a:solidFill>
              </a:rPr>
              <a:t>解決方法 : </a:t>
            </a:r>
            <a:endParaRPr sz="3000">
              <a:solidFill>
                <a:srgbClr val="76717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>
                <a:solidFill>
                  <a:srgbClr val="767171"/>
                </a:solidFill>
              </a:rPr>
              <a:t>不同模式 :</a:t>
            </a:r>
            <a:endParaRPr sz="2400">
              <a:solidFill>
                <a:srgbClr val="76717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>
                <a:solidFill>
                  <a:srgbClr val="767171"/>
                </a:solidFill>
              </a:rPr>
              <a:t>警報 : 全燈閃爍</a:t>
            </a:r>
            <a:endParaRPr sz="2400">
              <a:solidFill>
                <a:srgbClr val="76717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>
                <a:solidFill>
                  <a:srgbClr val="767171"/>
                </a:solidFill>
              </a:rPr>
              <a:t>解除警報 / 未執行項目 : 全燈熄滅</a:t>
            </a:r>
            <a:endParaRPr sz="2400">
              <a:solidFill>
                <a:srgbClr val="76717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>
                <a:solidFill>
                  <a:srgbClr val="767171"/>
                </a:solidFill>
              </a:rPr>
              <a:t>安全待機 : 全燈恆亮</a:t>
            </a:r>
            <a:endParaRPr sz="2400">
              <a:solidFill>
                <a:srgbClr val="76717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>
                <a:solidFill>
                  <a:srgbClr val="767171"/>
                </a:solidFill>
              </a:rPr>
              <a:t>執行項目 : 該燈恆亮</a:t>
            </a:r>
            <a:endParaRPr sz="2800">
              <a:solidFill>
                <a:srgbClr val="76717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-1339" y="-3006"/>
            <a:ext cx="12196916" cy="687520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</a:pPr>
            <a:r>
              <a:rPr lang="ja-JP"/>
              <a:t>項目三.</a:t>
            </a:r>
            <a:r>
              <a:rPr b="1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光敏電阻偵測(MCP3008)</a:t>
            </a:r>
            <a:endParaRPr/>
          </a:p>
        </p:txBody>
      </p:sp>
      <p:sp>
        <p:nvSpPr>
          <p:cNvPr id="217" name="Google Shape;21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57200" y="1825625"/>
            <a:ext cx="10896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Char char="•"/>
            </a:pPr>
            <a:r>
              <a:rPr lang="ja-JP" sz="2800">
                <a:solidFill>
                  <a:srgbClr val="767171"/>
                </a:solidFill>
              </a:rPr>
              <a:t>目標 : 偵測機器是否有人靠近，通知職員並用mutex鎖定系統中斷執行</a:t>
            </a:r>
            <a:endParaRPr sz="2800">
              <a:solidFill>
                <a:srgbClr val="76717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67171"/>
              </a:solidFill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Char char="•"/>
            </a:pPr>
            <a:r>
              <a:rPr lang="ja-JP" sz="2800">
                <a:solidFill>
                  <a:srgbClr val="767171"/>
                </a:solidFill>
              </a:rPr>
              <a:t>方案構思 : 光敏電阻數值突然劇變(有人經過遮住光)，視為有人太靠近機器</a:t>
            </a:r>
            <a:endParaRPr sz="2800">
              <a:solidFill>
                <a:srgbClr val="76717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67171"/>
              </a:solidFill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Char char="•"/>
            </a:pPr>
            <a:r>
              <a:rPr lang="ja-JP" sz="2800">
                <a:solidFill>
                  <a:srgbClr val="767171"/>
                </a:solidFill>
              </a:rPr>
              <a:t>光敏電阻數值變化時，觸發警報狀態(閃爍全燈)，在GUI顯示</a:t>
            </a:r>
            <a:endParaRPr sz="2800">
              <a:solidFill>
                <a:srgbClr val="767171"/>
              </a:solidFill>
            </a:endParaRPr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>
                <a:solidFill>
                  <a:srgbClr val="767171"/>
                </a:solidFill>
              </a:rPr>
              <a:t>「ALARM TRIGGERED」(其實應該是ANOMALY DETECTION)</a:t>
            </a:r>
            <a:endParaRPr sz="2800">
              <a:solidFill>
                <a:srgbClr val="76717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6717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-1339" y="-3006"/>
            <a:ext cx="12196916" cy="687520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</a:pPr>
            <a:r>
              <a:rPr lang="ja-JP"/>
              <a:t>進階項目1</a:t>
            </a:r>
            <a:r>
              <a:rPr b="1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.AI視覺</a:t>
            </a:r>
            <a:endParaRPr b="1" i="0" sz="36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457200" y="1825625"/>
            <a:ext cx="11162700" cy="435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Font typeface="Arial"/>
              <a:buChar char="•"/>
            </a:pPr>
            <a:r>
              <a:rPr b="0" i="0" lang="ja-JP" sz="2800" u="none" cap="none" strike="noStrike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目標:</a:t>
            </a:r>
            <a:r>
              <a:rPr lang="ja-JP" sz="2800">
                <a:solidFill>
                  <a:srgbClr val="767171"/>
                </a:solidFill>
              </a:rPr>
              <a:t>透過攝影機的畫面，讓AI去判斷是否有人做出認證，並判斷其認證是否可以通過</a:t>
            </a:r>
            <a:endParaRPr sz="2800">
              <a:solidFill>
                <a:srgbClr val="76717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67171"/>
              </a:solidFill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Char char="•"/>
            </a:pPr>
            <a:r>
              <a:rPr lang="ja-JP" sz="2800">
                <a:solidFill>
                  <a:srgbClr val="767171"/>
                </a:solidFill>
              </a:rPr>
              <a:t>攝影機拍到紅色物體，判斷為識別證，監控端</a:t>
            </a:r>
            <a:r>
              <a:rPr lang="ja-JP" sz="2800">
                <a:solidFill>
                  <a:srgbClr val="767171"/>
                </a:solidFill>
              </a:rPr>
              <a:t>顯示「ID Verified」</a:t>
            </a:r>
            <a:endParaRPr sz="2800">
              <a:solidFill>
                <a:srgbClr val="76717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67171"/>
              </a:solidFill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Char char="•"/>
            </a:pPr>
            <a:r>
              <a:t/>
            </a:r>
            <a:endParaRPr sz="2800">
              <a:solidFill>
                <a:srgbClr val="76717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-1339" y="-3006"/>
            <a:ext cx="12196916" cy="687520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</a:pPr>
            <a:r>
              <a:rPr lang="ja-JP">
                <a:solidFill>
                  <a:srgbClr val="757070"/>
                </a:solidFill>
              </a:rPr>
              <a:t>進階項目2.</a:t>
            </a:r>
            <a:r>
              <a:rPr b="1" i="0" lang="ja-JP" sz="3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Kernel Black Box</a:t>
            </a:r>
            <a:endParaRPr b="1" i="0" sz="36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プレゼンテーションのタイトル</a:t>
            </a:r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457200" y="1825625"/>
            <a:ext cx="11277600" cy="435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Font typeface="Arial"/>
              <a:buChar char="•"/>
            </a:pPr>
            <a:r>
              <a:rPr b="0" i="0" lang="ja-JP" sz="2800" u="none" cap="none" strike="noStrike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目標</a:t>
            </a:r>
            <a:r>
              <a:rPr b="0" i="0" lang="ja-JP" sz="2800" u="none" cap="none" strike="noStrike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ja-JP" sz="2800">
                <a:solidFill>
                  <a:srgbClr val="767171"/>
                </a:solidFill>
              </a:rPr>
              <a:t>在GUI的後端</a:t>
            </a:r>
            <a:r>
              <a:rPr lang="ja-JP" sz="2800">
                <a:solidFill>
                  <a:srgbClr val="767171"/>
                </a:solidFill>
              </a:rPr>
              <a:t>記錄職員在GUI輸入的密碼。並讓監控端可以調出歷史紀錄來查看</a:t>
            </a:r>
            <a:endParaRPr sz="2800">
              <a:solidFill>
                <a:srgbClr val="767171"/>
              </a:solidFill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/>
          <p:nvPr/>
        </p:nvSpPr>
        <p:spPr>
          <a:xfrm>
            <a:off x="-1339" y="-3006"/>
            <a:ext cx="12196800" cy="68751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264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"/>
          <p:cNvSpPr txBox="1"/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</a:pPr>
            <a:r>
              <a:rPr lang="ja-JP"/>
              <a:t>進階項目3.</a:t>
            </a:r>
            <a:r>
              <a:rPr b="1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遠端協同</a:t>
            </a:r>
            <a:endParaRPr b="1" i="0" sz="36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プレゼンテーションのタイトル</a:t>
            </a:r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 txBox="1"/>
          <p:nvPr>
            <p:ph idx="1" type="body"/>
          </p:nvPr>
        </p:nvSpPr>
        <p:spPr>
          <a:xfrm>
            <a:off x="457200" y="1825625"/>
            <a:ext cx="11277600" cy="435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800"/>
              <a:buChar char="•"/>
            </a:pPr>
            <a:r>
              <a:rPr lang="ja-JP" sz="2800"/>
              <a:t>目標:</a:t>
            </a:r>
            <a:r>
              <a:rPr lang="ja-JP" sz="2800"/>
              <a:t>在掃描完識別證並輸入密碼後，系統進入等待授權狀態。此時必須由另一人在手機網頁上按下「Authorize」，Qt 輪詢 (Poll) 到狀態改變後，門鎖才會真正開啟。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</a:pPr>
            <a:r>
              <a:rPr b="1" i="0" lang="ja-JP" sz="3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實驗結果</a:t>
            </a:r>
            <a:endParaRPr b="1" i="0" sz="36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6"/>
          <p:cNvSpPr txBox="1"/>
          <p:nvPr>
            <p:ph idx="1" type="body"/>
          </p:nvPr>
        </p:nvSpPr>
        <p:spPr>
          <a:xfrm>
            <a:off x="704336" y="1833216"/>
            <a:ext cx="4242904" cy="834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ja-JP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結果說明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 txBox="1"/>
          <p:nvPr>
            <p:ph idx="2" type="body"/>
          </p:nvPr>
        </p:nvSpPr>
        <p:spPr>
          <a:xfrm>
            <a:off x="704336" y="2668171"/>
            <a:ext cx="4242900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Char char="•"/>
            </a:pPr>
            <a:r>
              <a:rPr lang="ja-JP" sz="2200"/>
              <a:t>在GUI介面上可以進行</a:t>
            </a:r>
            <a:r>
              <a:rPr lang="ja-JP" sz="2200"/>
              <a:t>狀態</a:t>
            </a:r>
            <a:r>
              <a:rPr lang="ja-JP" sz="2200"/>
              <a:t>監控以及操縱，設置快捷鍵來進行簡單且直覺的操作。</a:t>
            </a:r>
            <a:endParaRPr sz="22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Char char="•"/>
            </a:pPr>
            <a:r>
              <a:rPr lang="ja-JP" sz="2200"/>
              <a:t>透過LED傳達現在的狀況，因應不同情境，使用不同的燈光以及閃爍方式。</a:t>
            </a:r>
            <a:endParaRPr sz="22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2800"/>
              <a:buChar char="•"/>
            </a:pPr>
            <a:r>
              <a:rPr lang="ja-JP" sz="2200"/>
              <a:t>使用</a:t>
            </a:r>
            <a:r>
              <a:rPr lang="ja-JP" sz="2200"/>
              <a:t>光敏電阻偵測周遭環境，在有</a:t>
            </a:r>
            <a:r>
              <a:rPr lang="ja-JP" sz="2200"/>
              <a:t>物體</a:t>
            </a:r>
            <a:r>
              <a:rPr lang="ja-JP" sz="2200"/>
              <a:t>接近機器時啟動警報系統，在監控畫面顯示警告，同時將LED調整為警報狀態。</a:t>
            </a:r>
            <a:endParaRPr b="0" i="0" sz="2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 txBox="1"/>
          <p:nvPr>
            <p:ph idx="3" type="body"/>
          </p:nvPr>
        </p:nvSpPr>
        <p:spPr>
          <a:xfrm>
            <a:off x="6261090" y="1830249"/>
            <a:ext cx="5222884" cy="801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ja-JP" sz="4000"/>
              <a:t>Demo</a:t>
            </a:r>
            <a:r>
              <a:rPr b="1" i="0" lang="ja-JP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影片連結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6"/>
          <p:cNvSpPr txBox="1"/>
          <p:nvPr>
            <p:ph idx="4" type="body"/>
          </p:nvPr>
        </p:nvSpPr>
        <p:spPr>
          <a:xfrm>
            <a:off x="6349439" y="2632075"/>
            <a:ext cx="4088295" cy="3706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 u="sng">
                <a:solidFill>
                  <a:schemeClr val="hlink"/>
                </a:solidFill>
                <a:hlinkClick r:id="rId3"/>
              </a:rPr>
              <a:t>https://drive.google.com/file/d/1W6SLzRoqX0k8u_xjtt38Fhtymvs0R0-3/view?usp=sharing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457200" y="850230"/>
            <a:ext cx="500914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600"/>
              <a:buFont typeface="Arial"/>
              <a:buNone/>
            </a:pPr>
            <a:r>
              <a:rPr b="1" i="0" lang="ja-JP" sz="3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心得</a:t>
            </a:r>
            <a:endParaRPr b="1" i="0" sz="36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457200" y="1993825"/>
            <a:ext cx="5448300" cy="4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600"/>
              <a:t>　　</a:t>
            </a:r>
            <a:r>
              <a:rPr lang="ja-JP" sz="1600"/>
              <a:t>這次的期末專題</a:t>
            </a:r>
            <a:r>
              <a:rPr lang="ja-JP" sz="1600"/>
              <a:t>碰上了新年假期，又發生各種事情，在手忙腳亂、有各式各樣的事情要處理的當下，我們盡可能的做出專題的成果。</a:t>
            </a:r>
            <a:endParaRPr sz="1600"/>
          </a:p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600"/>
              <a:t>　　因為時間不足以及技術問題，最後只有做出專題的基本功能。</a:t>
            </a:r>
            <a:endParaRPr sz="1600"/>
          </a:p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600"/>
              <a:t>　　</a:t>
            </a:r>
            <a:r>
              <a:rPr lang="ja-JP" sz="1600"/>
              <a:t>在最後實驗過程中，我</a:t>
            </a:r>
            <a:r>
              <a:rPr lang="ja-JP" sz="1600"/>
              <a:t>們</a:t>
            </a:r>
            <a:r>
              <a:rPr lang="ja-JP" sz="1600"/>
              <a:t>不小心</a:t>
            </a:r>
            <a:r>
              <a:rPr lang="ja-JP" sz="1600"/>
              <a:t>燒了兩顆LED，導致我們剩下三顆LED可以使用(總共只有5顆)，但至少還是能證明我們有確實做到要求。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霜の降りた松葉の先のクローズアップ&#10;&#10;" id="266" name="Google Shape;266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2628" y="685800"/>
            <a:ext cx="3200400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descr="雪に覆われた枝にとまる小さな鳥" id="267" name="Google Shape;267;p27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2492375"/>
            <a:ext cx="2286000" cy="251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268" name="Google Shape;26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雪に覆われた松林の上空からの眺め&#10;" id="274" name="Google Shape;274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4" l="0" r="0" t="35"/>
          <a:stretch/>
        </p:blipFill>
        <p:spPr>
          <a:xfrm>
            <a:off x="458724" y="411480"/>
            <a:ext cx="11274552" cy="58704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275" name="Google Shape;275;p28"/>
          <p:cNvSpPr txBox="1"/>
          <p:nvPr>
            <p:ph type="ctrTitle"/>
          </p:nvPr>
        </p:nvSpPr>
        <p:spPr>
          <a:xfrm>
            <a:off x="457201" y="3490624"/>
            <a:ext cx="4571999" cy="1235382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b" bIns="137150" lIns="45720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600"/>
              <a:buFont typeface="Arial"/>
              <a:buNone/>
            </a:pPr>
            <a:r>
              <a:rPr lang="ja-JP"/>
              <a:t>End</a:t>
            </a:r>
            <a:endParaRPr/>
          </a:p>
        </p:txBody>
      </p:sp>
      <p:sp>
        <p:nvSpPr>
          <p:cNvPr id="276" name="Google Shape;276;p28"/>
          <p:cNvSpPr txBox="1"/>
          <p:nvPr>
            <p:ph idx="1" type="subTitle"/>
          </p:nvPr>
        </p:nvSpPr>
        <p:spPr>
          <a:xfrm>
            <a:off x="457199" y="4726007"/>
            <a:ext cx="4572000" cy="1314300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t" bIns="45700" lIns="502900" spcFirstLastPara="1" rIns="21031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300"/>
              <a:buFont typeface="Arial"/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300"/>
              <a:buFont typeface="Arial"/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277" name="Google Shape;27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プレゼンテーションのタイトル</a:t>
            </a:r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Custom 7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4EEF2"/>
      </a:accent1>
      <a:accent2>
        <a:srgbClr val="9CD3D9"/>
      </a:accent2>
      <a:accent3>
        <a:srgbClr val="387373"/>
      </a:accent3>
      <a:accent4>
        <a:srgbClr val="022E40"/>
      </a:accent4>
      <a:accent5>
        <a:srgbClr val="F2E4C9"/>
      </a:accent5>
      <a:accent6>
        <a:srgbClr val="FFFFF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